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Newsreader"/>
      <p:regular r:id="rId16"/>
      <p:bold r:id="rId17"/>
      <p:italic r:id="rId18"/>
      <p:boldItalic r:id="rId19"/>
    </p:embeddedFont>
    <p:embeddedFont>
      <p:font typeface="DM Sans Light"/>
      <p:regular r:id="rId20"/>
      <p:bold r:id="rId21"/>
      <p:italic r:id="rId22"/>
      <p:boldItalic r:id="rId23"/>
    </p:embeddedFont>
    <p:embeddedFont>
      <p:font typeface="DM Sans SemiBold"/>
      <p:regular r:id="rId24"/>
      <p:bold r:id="rId25"/>
      <p:italic r:id="rId26"/>
      <p:boldItalic r:id="rId27"/>
    </p:embeddedFont>
    <p:embeddedFont>
      <p:font typeface="DM Sans"/>
      <p:regular r:id="rId28"/>
      <p:bold r:id="rId29"/>
      <p:italic r:id="rId30"/>
      <p:boldItalic r:id="rId31"/>
    </p:embeddedFont>
    <p:embeddedFont>
      <p:font typeface="Newsreader SemiBol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boldItalic.fntdata"/><Relationship Id="rId30" Type="http://schemas.openxmlformats.org/officeDocument/2006/relationships/font" Target="fonts/DMSans-italic.fntdata"/><Relationship Id="rId33" Type="http://schemas.openxmlformats.org/officeDocument/2006/relationships/font" Target="fonts/NewsreaderSemiBold-bold.fntdata"/><Relationship Id="rId32" Type="http://schemas.openxmlformats.org/officeDocument/2006/relationships/font" Target="fonts/NewsreaderSemiBold-regular.fntdata"/><Relationship Id="rId35" Type="http://schemas.openxmlformats.org/officeDocument/2006/relationships/font" Target="fonts/NewsreaderSemiBold-boldItalic.fntdata"/><Relationship Id="rId34" Type="http://schemas.openxmlformats.org/officeDocument/2006/relationships/font" Target="fonts/NewsreaderSemiBold-italic.fntdata"/><Relationship Id="rId20" Type="http://schemas.openxmlformats.org/officeDocument/2006/relationships/font" Target="fonts/DMSansLight-regular.fntdata"/><Relationship Id="rId22" Type="http://schemas.openxmlformats.org/officeDocument/2006/relationships/font" Target="fonts/DMSansLight-italic.fntdata"/><Relationship Id="rId21" Type="http://schemas.openxmlformats.org/officeDocument/2006/relationships/font" Target="fonts/DMSansLight-bold.fntdata"/><Relationship Id="rId24" Type="http://schemas.openxmlformats.org/officeDocument/2006/relationships/font" Target="fonts/DMSansSemiBold-regular.fntdata"/><Relationship Id="rId23" Type="http://schemas.openxmlformats.org/officeDocument/2006/relationships/font" Target="fonts/DMSansLight-boldItalic.fntdata"/><Relationship Id="rId26" Type="http://schemas.openxmlformats.org/officeDocument/2006/relationships/font" Target="fonts/DMSansSemiBold-italic.fntdata"/><Relationship Id="rId25" Type="http://schemas.openxmlformats.org/officeDocument/2006/relationships/font" Target="fonts/DMSansSemiBold-bold.fntdata"/><Relationship Id="rId28" Type="http://schemas.openxmlformats.org/officeDocument/2006/relationships/font" Target="fonts/DMSans-regular.fntdata"/><Relationship Id="rId27" Type="http://schemas.openxmlformats.org/officeDocument/2006/relationships/font" Target="fonts/DMSansSemiBold-boldItalic.fntdata"/><Relationship Id="rId29" Type="http://schemas.openxmlformats.org/officeDocument/2006/relationships/font" Target="fonts/DMSans-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Newsreader-bold.fntdata"/><Relationship Id="rId16" Type="http://schemas.openxmlformats.org/officeDocument/2006/relationships/font" Target="fonts/Newsreader-regular.fntdata"/><Relationship Id="rId19" Type="http://schemas.openxmlformats.org/officeDocument/2006/relationships/font" Target="fonts/Newsreader-boldItalic.fntdata"/><Relationship Id="rId18" Type="http://schemas.openxmlformats.org/officeDocument/2006/relationships/font" Target="fonts/Newsread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e924b28325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e924b28325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e1f6151f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e1f6151f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3ed77db1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e3ed77db1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eee9390780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eee9390780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eee9390780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eee9390780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ed76a1cc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eed76a1cc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eed76a1cc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eed76a1cc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eed76a1cc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eed76a1cc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eed76a1cc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eed76a1cc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drive.google.com/file/d/17QHmsfV1rpseyUI6AOeX9X-MK52GoUEK/view" TargetMode="External"/><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drive.google.com/file/d/1YjO_jAPhy6b2467_6zqv26_KPnC2wFkd/view" TargetMode="External"/><Relationship Id="rId5"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drive.google.com/file/d/1X4AxaHsmEGLsXPCpn7tgPxYcJzCDBm35/view" TargetMode="External"/><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7"/>
          <p:cNvSpPr txBox="1"/>
          <p:nvPr>
            <p:ph type="title"/>
          </p:nvPr>
        </p:nvSpPr>
        <p:spPr>
          <a:xfrm>
            <a:off x="285725" y="1206450"/>
            <a:ext cx="38601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Parking Space Finder</a:t>
            </a:r>
            <a:endParaRPr/>
          </a:p>
        </p:txBody>
      </p:sp>
      <p:sp>
        <p:nvSpPr>
          <p:cNvPr id="514" name="Google Shape;514;p67"/>
          <p:cNvSpPr txBox="1"/>
          <p:nvPr>
            <p:ph idx="1" type="subTitle"/>
          </p:nvPr>
        </p:nvSpPr>
        <p:spPr>
          <a:xfrm>
            <a:off x="189375" y="2505003"/>
            <a:ext cx="3860100" cy="14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DM Sans"/>
                <a:ea typeface="DM Sans"/>
                <a:cs typeface="DM Sans"/>
                <a:sym typeface="DM Sans"/>
              </a:rPr>
              <a:t>ECE MAE 148 </a:t>
            </a:r>
            <a:r>
              <a:rPr b="1" lang="en" sz="2300">
                <a:latin typeface="DM Sans"/>
                <a:ea typeface="DM Sans"/>
                <a:cs typeface="DM Sans"/>
                <a:sym typeface="DM Sans"/>
              </a:rPr>
              <a:t>Team 8</a:t>
            </a:r>
            <a:endParaRPr b="1" sz="2300">
              <a:latin typeface="DM Sans"/>
              <a:ea typeface="DM Sans"/>
              <a:cs typeface="DM Sans"/>
              <a:sym typeface="DM Sans"/>
            </a:endParaRPr>
          </a:p>
          <a:p>
            <a:pPr indent="0" lvl="0" marL="0" rtl="0" algn="ctr">
              <a:spcBef>
                <a:spcPts val="0"/>
              </a:spcBef>
              <a:spcAft>
                <a:spcPts val="0"/>
              </a:spcAft>
              <a:buNone/>
            </a:pPr>
            <a:r>
              <a:t/>
            </a:r>
            <a:endParaRPr b="1" sz="2300">
              <a:latin typeface="DM Sans"/>
              <a:ea typeface="DM Sans"/>
              <a:cs typeface="DM Sans"/>
              <a:sym typeface="DM Sans"/>
            </a:endParaRPr>
          </a:p>
          <a:p>
            <a:pPr indent="0" lvl="0" marL="0" rtl="0" algn="ctr">
              <a:spcBef>
                <a:spcPts val="0"/>
              </a:spcBef>
              <a:spcAft>
                <a:spcPts val="0"/>
              </a:spcAft>
              <a:buNone/>
            </a:pPr>
            <a:r>
              <a:rPr lang="en" sz="1700"/>
              <a:t>Geonmoo Lee – MAE</a:t>
            </a:r>
            <a:endParaRPr sz="1700"/>
          </a:p>
          <a:p>
            <a:pPr indent="0" lvl="0" marL="0" rtl="0" algn="ctr">
              <a:spcBef>
                <a:spcPts val="0"/>
              </a:spcBef>
              <a:spcAft>
                <a:spcPts val="0"/>
              </a:spcAft>
              <a:buNone/>
            </a:pPr>
            <a:r>
              <a:rPr lang="en" sz="1700"/>
              <a:t>Christopher Wong – MAE</a:t>
            </a:r>
            <a:endParaRPr sz="1700"/>
          </a:p>
          <a:p>
            <a:pPr indent="0" lvl="0" marL="0" rtl="0" algn="ctr">
              <a:spcBef>
                <a:spcPts val="0"/>
              </a:spcBef>
              <a:spcAft>
                <a:spcPts val="0"/>
              </a:spcAft>
              <a:buNone/>
            </a:pPr>
            <a:r>
              <a:rPr lang="en" sz="1700"/>
              <a:t>Henry Tiet – ECE</a:t>
            </a:r>
            <a:endParaRPr sz="1700"/>
          </a:p>
          <a:p>
            <a:pPr indent="0" lvl="0" marL="0" rtl="0" algn="ctr">
              <a:spcBef>
                <a:spcPts val="0"/>
              </a:spcBef>
              <a:spcAft>
                <a:spcPts val="0"/>
              </a:spcAft>
              <a:buNone/>
            </a:pPr>
            <a:r>
              <a:t/>
            </a:r>
            <a:endParaRPr sz="1700"/>
          </a:p>
          <a:p>
            <a:pPr indent="0" lvl="0" marL="0" rtl="0" algn="ctr">
              <a:spcBef>
                <a:spcPts val="0"/>
              </a:spcBef>
              <a:spcAft>
                <a:spcPts val="0"/>
              </a:spcAft>
              <a:buNone/>
            </a:pPr>
            <a:r>
              <a:t/>
            </a:r>
            <a:endParaRPr sz="1700"/>
          </a:p>
          <a:p>
            <a:pPr indent="0" lvl="0" marL="0" rtl="0" algn="ctr">
              <a:spcBef>
                <a:spcPts val="0"/>
              </a:spcBef>
              <a:spcAft>
                <a:spcPts val="0"/>
              </a:spcAft>
              <a:buNone/>
            </a:pPr>
            <a:r>
              <a:t/>
            </a:r>
            <a:endParaRPr sz="1700"/>
          </a:p>
        </p:txBody>
      </p:sp>
      <p:pic>
        <p:nvPicPr>
          <p:cNvPr id="515" name="Google Shape;515;p67"/>
          <p:cNvPicPr preferRelativeResize="0"/>
          <p:nvPr/>
        </p:nvPicPr>
        <p:blipFill>
          <a:blip r:embed="rId3">
            <a:alphaModFix/>
          </a:blip>
          <a:stretch>
            <a:fillRect/>
          </a:stretch>
        </p:blipFill>
        <p:spPr>
          <a:xfrm>
            <a:off x="285725" y="267950"/>
            <a:ext cx="2286026" cy="535250"/>
          </a:xfrm>
          <a:prstGeom prst="rect">
            <a:avLst/>
          </a:prstGeom>
          <a:noFill/>
          <a:ln>
            <a:noFill/>
          </a:ln>
        </p:spPr>
      </p:pic>
      <p:pic>
        <p:nvPicPr>
          <p:cNvPr id="516" name="Google Shape;516;p67"/>
          <p:cNvPicPr preferRelativeResize="0"/>
          <p:nvPr/>
        </p:nvPicPr>
        <p:blipFill>
          <a:blip r:embed="rId4">
            <a:alphaModFix/>
          </a:blip>
          <a:stretch>
            <a:fillRect/>
          </a:stretch>
        </p:blipFill>
        <p:spPr>
          <a:xfrm>
            <a:off x="4718663" y="0"/>
            <a:ext cx="385762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8"/>
          <p:cNvSpPr txBox="1"/>
          <p:nvPr>
            <p:ph idx="12" type="sldNum"/>
          </p:nvPr>
        </p:nvSpPr>
        <p:spPr>
          <a:xfrm>
            <a:off x="7853000"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pic>
        <p:nvPicPr>
          <p:cNvPr id="522" name="Google Shape;522;p68"/>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23" name="Google Shape;523;p68"/>
          <p:cNvSpPr txBox="1"/>
          <p:nvPr/>
        </p:nvSpPr>
        <p:spPr>
          <a:xfrm>
            <a:off x="165375" y="863250"/>
            <a:ext cx="8647500" cy="39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DM Sans"/>
                <a:ea typeface="DM Sans"/>
                <a:cs typeface="DM Sans"/>
                <a:sym typeface="DM Sans"/>
              </a:rPr>
              <a:t>Reminder of </a:t>
            </a:r>
            <a:r>
              <a:rPr b="1" lang="en" sz="2500">
                <a:solidFill>
                  <a:schemeClr val="dk1"/>
                </a:solidFill>
                <a:latin typeface="DM Sans"/>
                <a:ea typeface="DM Sans"/>
                <a:cs typeface="DM Sans"/>
                <a:sym typeface="DM Sans"/>
              </a:rPr>
              <a:t>W</a:t>
            </a:r>
            <a:r>
              <a:rPr b="1" lang="en" sz="2500">
                <a:solidFill>
                  <a:schemeClr val="dk1"/>
                </a:solidFill>
                <a:latin typeface="DM Sans"/>
                <a:ea typeface="DM Sans"/>
                <a:cs typeface="DM Sans"/>
                <a:sym typeface="DM Sans"/>
              </a:rPr>
              <a:t>hat </a:t>
            </a:r>
            <a:r>
              <a:rPr b="1" lang="en" sz="2500">
                <a:solidFill>
                  <a:schemeClr val="dk1"/>
                </a:solidFill>
                <a:latin typeface="DM Sans"/>
                <a:ea typeface="DM Sans"/>
                <a:cs typeface="DM Sans"/>
                <a:sym typeface="DM Sans"/>
              </a:rPr>
              <a:t>W</a:t>
            </a:r>
            <a:r>
              <a:rPr b="1" lang="en" sz="2500">
                <a:solidFill>
                  <a:schemeClr val="dk1"/>
                </a:solidFill>
                <a:latin typeface="DM Sans"/>
                <a:ea typeface="DM Sans"/>
                <a:cs typeface="DM Sans"/>
                <a:sym typeface="DM Sans"/>
              </a:rPr>
              <a:t>e </a:t>
            </a:r>
            <a:r>
              <a:rPr b="1" lang="en" sz="2500">
                <a:solidFill>
                  <a:schemeClr val="dk1"/>
                </a:solidFill>
                <a:latin typeface="DM Sans"/>
                <a:ea typeface="DM Sans"/>
                <a:cs typeface="DM Sans"/>
                <a:sym typeface="DM Sans"/>
              </a:rPr>
              <a:t>P</a:t>
            </a:r>
            <a:r>
              <a:rPr b="1" lang="en" sz="2500">
                <a:solidFill>
                  <a:schemeClr val="dk1"/>
                </a:solidFill>
                <a:latin typeface="DM Sans"/>
                <a:ea typeface="DM Sans"/>
                <a:cs typeface="DM Sans"/>
                <a:sym typeface="DM Sans"/>
              </a:rPr>
              <a:t>romised</a:t>
            </a:r>
            <a:endParaRPr b="1" sz="2500">
              <a:solidFill>
                <a:schemeClr val="dk1"/>
              </a:solidFill>
              <a:latin typeface="DM Sans"/>
              <a:ea typeface="DM Sans"/>
              <a:cs typeface="DM Sans"/>
              <a:sym typeface="DM Sans"/>
            </a:endParaRPr>
          </a:p>
          <a:p>
            <a:pPr indent="0" lvl="0" marL="0" rtl="0" algn="l">
              <a:spcBef>
                <a:spcPts val="0"/>
              </a:spcBef>
              <a:spcAft>
                <a:spcPts val="0"/>
              </a:spcAft>
              <a:buNone/>
            </a:pPr>
            <a:r>
              <a:t/>
            </a:r>
            <a:endParaRPr b="1"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Must Haves:</a:t>
            </a:r>
            <a:endParaRPr b="1" sz="1500">
              <a:solidFill>
                <a:schemeClr val="dk1"/>
              </a:solidFill>
              <a:latin typeface="DM Sans"/>
              <a:ea typeface="DM Sans"/>
              <a:cs typeface="DM Sans"/>
              <a:sym typeface="DM Sans"/>
            </a:endParaRPr>
          </a:p>
          <a:p>
            <a:pPr indent="0" lvl="0" marL="0" rtl="0" algn="l">
              <a:spcBef>
                <a:spcPts val="0"/>
              </a:spcBef>
              <a:spcAft>
                <a:spcPts val="0"/>
              </a:spcAft>
              <a:buNone/>
            </a:pPr>
            <a:r>
              <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Camera </a:t>
            </a:r>
            <a:r>
              <a:rPr lang="en" sz="1200">
                <a:solidFill>
                  <a:schemeClr val="dk1"/>
                </a:solidFill>
                <a:latin typeface="DM Sans"/>
                <a:ea typeface="DM Sans"/>
                <a:cs typeface="DM Sans"/>
                <a:sym typeface="DM Sans"/>
              </a:rPr>
              <a:t>Recognition</a:t>
            </a:r>
            <a:r>
              <a:rPr lang="en" sz="1200">
                <a:solidFill>
                  <a:schemeClr val="dk1"/>
                </a:solidFill>
                <a:latin typeface="DM Sans"/>
                <a:ea typeface="DM Sans"/>
                <a:cs typeface="DM Sans"/>
                <a:sym typeface="DM Sans"/>
              </a:rPr>
              <a:t> of an </a:t>
            </a:r>
            <a:r>
              <a:rPr lang="en" sz="1200">
                <a:solidFill>
                  <a:schemeClr val="dk1"/>
                </a:solidFill>
                <a:latin typeface="DM Sans"/>
                <a:ea typeface="DM Sans"/>
                <a:cs typeface="DM Sans"/>
                <a:sym typeface="DM Sans"/>
              </a:rPr>
              <a:t>O</a:t>
            </a:r>
            <a:r>
              <a:rPr lang="en" sz="1200">
                <a:solidFill>
                  <a:schemeClr val="dk1"/>
                </a:solidFill>
                <a:latin typeface="DM Sans"/>
                <a:ea typeface="DM Sans"/>
                <a:cs typeface="DM Sans"/>
                <a:sym typeface="DM Sans"/>
              </a:rPr>
              <a:t>pen </a:t>
            </a:r>
            <a:r>
              <a:rPr lang="en" sz="1200">
                <a:solidFill>
                  <a:schemeClr val="dk1"/>
                </a:solidFill>
                <a:latin typeface="DM Sans"/>
                <a:ea typeface="DM Sans"/>
                <a:cs typeface="DM Sans"/>
                <a:sym typeface="DM Sans"/>
              </a:rPr>
              <a:t>P</a:t>
            </a:r>
            <a:r>
              <a:rPr lang="en" sz="1200">
                <a:solidFill>
                  <a:schemeClr val="dk1"/>
                </a:solidFill>
                <a:latin typeface="DM Sans"/>
                <a:ea typeface="DM Sans"/>
                <a:cs typeface="DM Sans"/>
                <a:sym typeface="DM Sans"/>
              </a:rPr>
              <a:t>arking </a:t>
            </a:r>
            <a:r>
              <a:rPr lang="en" sz="1200">
                <a:solidFill>
                  <a:schemeClr val="dk1"/>
                </a:solidFill>
                <a:latin typeface="DM Sans"/>
                <a:ea typeface="DM Sans"/>
                <a:cs typeface="DM Sans"/>
                <a:sym typeface="DM Sans"/>
              </a:rPr>
              <a:t>S</a:t>
            </a:r>
            <a:r>
              <a:rPr lang="en" sz="1200">
                <a:solidFill>
                  <a:schemeClr val="dk1"/>
                </a:solidFill>
                <a:latin typeface="DM Sans"/>
                <a:ea typeface="DM Sans"/>
                <a:cs typeface="DM Sans"/>
                <a:sym typeface="DM Sans"/>
              </a:rPr>
              <a:t>pot</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Vesc Control of Motor to </a:t>
            </a:r>
            <a:r>
              <a:rPr lang="en" sz="1200">
                <a:solidFill>
                  <a:schemeClr val="dk1"/>
                </a:solidFill>
                <a:latin typeface="DM Sans"/>
                <a:ea typeface="DM Sans"/>
                <a:cs typeface="DM Sans"/>
                <a:sym typeface="DM Sans"/>
              </a:rPr>
              <a:t>P</a:t>
            </a:r>
            <a:r>
              <a:rPr lang="en" sz="1200">
                <a:solidFill>
                  <a:schemeClr val="dk1"/>
                </a:solidFill>
                <a:latin typeface="DM Sans"/>
                <a:ea typeface="DM Sans"/>
                <a:cs typeface="DM Sans"/>
                <a:sym typeface="DM Sans"/>
              </a:rPr>
              <a:t>ark into </a:t>
            </a:r>
            <a:r>
              <a:rPr lang="en" sz="1200">
                <a:solidFill>
                  <a:schemeClr val="dk1"/>
                </a:solidFill>
                <a:latin typeface="DM Sans"/>
                <a:ea typeface="DM Sans"/>
                <a:cs typeface="DM Sans"/>
                <a:sym typeface="DM Sans"/>
              </a:rPr>
              <a:t>S</a:t>
            </a:r>
            <a:r>
              <a:rPr lang="en" sz="1200">
                <a:solidFill>
                  <a:schemeClr val="dk1"/>
                </a:solidFill>
                <a:latin typeface="DM Sans"/>
                <a:ea typeface="DM Sans"/>
                <a:cs typeface="DM Sans"/>
                <a:sym typeface="DM Sans"/>
              </a:rPr>
              <a:t>pot</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Avoidance of Blue Tape Lines that Mark the Parking Lot</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Nice to Have:</a:t>
            </a:r>
            <a:endParaRPr b="1" sz="15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SLAM Mapping of Parking Lot</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Identification of Different-sized Obstacles</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Understanding Badly-parked Neighbors and Avoidance of Them</a:t>
            </a:r>
            <a:endParaRPr sz="12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id="528" name="Google Shape;528;p69"/>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29" name="Google Shape;529;p69"/>
          <p:cNvSpPr txBox="1"/>
          <p:nvPr>
            <p:ph idx="12" type="sldNum"/>
          </p:nvPr>
        </p:nvSpPr>
        <p:spPr>
          <a:xfrm>
            <a:off x="7853000"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pic>
        <p:nvPicPr>
          <p:cNvPr id="530" name="Google Shape;530;p69" title="20260611_222851.mp4">
            <a:hlinkClick r:id="rId4"/>
          </p:cNvPr>
          <p:cNvPicPr preferRelativeResize="0"/>
          <p:nvPr/>
        </p:nvPicPr>
        <p:blipFill>
          <a:blip r:embed="rId5">
            <a:alphaModFix/>
          </a:blip>
          <a:stretch>
            <a:fillRect/>
          </a:stretch>
        </p:blipFill>
        <p:spPr>
          <a:xfrm>
            <a:off x="3125391" y="0"/>
            <a:ext cx="2893220" cy="51435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70"/>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36" name="Google Shape;536;p70"/>
          <p:cNvSpPr txBox="1"/>
          <p:nvPr>
            <p:ph idx="12" type="sldNum"/>
          </p:nvPr>
        </p:nvSpPr>
        <p:spPr>
          <a:xfrm>
            <a:off x="7853000"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pic>
        <p:nvPicPr>
          <p:cNvPr id="537" name="Google Shape;537;p70" title="20260611_222612.mp4">
            <a:hlinkClick r:id="rId4"/>
          </p:cNvPr>
          <p:cNvPicPr preferRelativeResize="0"/>
          <p:nvPr/>
        </p:nvPicPr>
        <p:blipFill>
          <a:blip r:embed="rId5">
            <a:alphaModFix/>
          </a:blip>
          <a:stretch>
            <a:fillRect/>
          </a:stretch>
        </p:blipFill>
        <p:spPr>
          <a:xfrm>
            <a:off x="3125391" y="0"/>
            <a:ext cx="2893220" cy="51435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id="542" name="Google Shape;542;p71"/>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43" name="Google Shape;543;p71"/>
          <p:cNvSpPr txBox="1"/>
          <p:nvPr>
            <p:ph idx="12" type="sldNum"/>
          </p:nvPr>
        </p:nvSpPr>
        <p:spPr>
          <a:xfrm>
            <a:off x="7853000"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pic>
        <p:nvPicPr>
          <p:cNvPr id="544" name="Google Shape;544;p71" title="20260611_222733.mp4">
            <a:hlinkClick r:id="rId4"/>
          </p:cNvPr>
          <p:cNvPicPr preferRelativeResize="0"/>
          <p:nvPr/>
        </p:nvPicPr>
        <p:blipFill>
          <a:blip r:embed="rId5">
            <a:alphaModFix/>
          </a:blip>
          <a:stretch>
            <a:fillRect/>
          </a:stretch>
        </p:blipFill>
        <p:spPr>
          <a:xfrm>
            <a:off x="3125391" y="0"/>
            <a:ext cx="2893220" cy="51435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10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72"/>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50" name="Google Shape;550;p72"/>
          <p:cNvSpPr txBox="1"/>
          <p:nvPr/>
        </p:nvSpPr>
        <p:spPr>
          <a:xfrm>
            <a:off x="129175" y="900150"/>
            <a:ext cx="8647500" cy="42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DM Sans"/>
                <a:ea typeface="DM Sans"/>
                <a:cs typeface="DM Sans"/>
                <a:sym typeface="DM Sans"/>
              </a:rPr>
              <a:t>What We Have Done</a:t>
            </a:r>
            <a:endParaRPr b="1" sz="25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What Worked:</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API call to Roboflow for YOLO model</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Camera Output Changes (Masking, Exposure, Hue, ISO)</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Communication between VESC and PI for </a:t>
            </a:r>
            <a:r>
              <a:rPr lang="en" sz="1200">
                <a:solidFill>
                  <a:schemeClr val="dk1"/>
                </a:solidFill>
                <a:latin typeface="DM Sans"/>
                <a:ea typeface="DM Sans"/>
                <a:cs typeface="DM Sans"/>
                <a:sym typeface="DM Sans"/>
              </a:rPr>
              <a:t>auto parking</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What didn’t Work as Expected and Why:</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T</a:t>
            </a:r>
            <a:r>
              <a:rPr lang="en" sz="1200">
                <a:solidFill>
                  <a:schemeClr val="dk1"/>
                </a:solidFill>
                <a:latin typeface="DM Sans"/>
                <a:ea typeface="DM Sans"/>
                <a:cs typeface="DM Sans"/>
                <a:sym typeface="DM Sans"/>
              </a:rPr>
              <a:t>raining an Onboard YOLO model with high enough confidence – Not enough photos in the database (200) OR Roboflow has unique weights to its training model that we didn’t have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Odometry - precise control was still difficult due to misalignment of the wheels </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How can we Solve the Issue(s):</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Adding more photos with good annotations should have allowed for a better model and higher confidence (annotating </a:t>
            </a:r>
            <a:r>
              <a:rPr lang="en" sz="1200">
                <a:solidFill>
                  <a:schemeClr val="dk1"/>
                </a:solidFill>
                <a:latin typeface="DM Sans"/>
                <a:ea typeface="DM Sans"/>
                <a:cs typeface="DM Sans"/>
                <a:sym typeface="DM Sans"/>
              </a:rPr>
              <a:t>the taken spaces may also have helped)</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Extra time </a:t>
            </a:r>
            <a:r>
              <a:rPr lang="en" sz="1200">
                <a:solidFill>
                  <a:schemeClr val="dk1"/>
                </a:solidFill>
                <a:latin typeface="DM Sans"/>
                <a:ea typeface="DM Sans"/>
                <a:cs typeface="DM Sans"/>
                <a:sym typeface="DM Sans"/>
              </a:rPr>
              <a:t>working with ROS2 and a bit more trial and error should have enabled us to properly engage with the program, we used a predetermined set of timed input pulses as a bandaid solution</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p:txBody>
      </p:sp>
      <p:sp>
        <p:nvSpPr>
          <p:cNvPr id="551" name="Google Shape;551;p72"/>
          <p:cNvSpPr txBox="1"/>
          <p:nvPr>
            <p:ph idx="12" type="sldNum"/>
          </p:nvPr>
        </p:nvSpPr>
        <p:spPr>
          <a:xfrm>
            <a:off x="7853000"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73"/>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57" name="Google Shape;557;p73"/>
          <p:cNvSpPr txBox="1"/>
          <p:nvPr/>
        </p:nvSpPr>
        <p:spPr>
          <a:xfrm>
            <a:off x="129175" y="900150"/>
            <a:ext cx="8647500" cy="41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DM Sans"/>
                <a:ea typeface="DM Sans"/>
                <a:cs typeface="DM Sans"/>
                <a:sym typeface="DM Sans"/>
              </a:rPr>
              <a:t>If we had </a:t>
            </a:r>
            <a:r>
              <a:rPr b="1" lang="en" sz="2500">
                <a:solidFill>
                  <a:schemeClr val="dk1"/>
                </a:solidFill>
                <a:latin typeface="DM Sans"/>
                <a:ea typeface="DM Sans"/>
                <a:cs typeface="DM Sans"/>
                <a:sym typeface="DM Sans"/>
              </a:rPr>
              <a:t>another</a:t>
            </a:r>
            <a:r>
              <a:rPr b="1" lang="en" sz="2500">
                <a:solidFill>
                  <a:schemeClr val="dk1"/>
                </a:solidFill>
                <a:latin typeface="DM Sans"/>
                <a:ea typeface="DM Sans"/>
                <a:cs typeface="DM Sans"/>
                <a:sym typeface="DM Sans"/>
              </a:rPr>
              <a:t> week</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Extend our Existing Parking Lot</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Add a loop and curve the parking lot for a bigger section</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Add path following for more Complicated Parking Lots</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With a curvy parking lot, path following will be required to not cross over any parking lines</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5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Train a Working YOLO model for Onboard Processing</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Our currently model API calls back to Roboflow due to multiple YOLO models having too low of confidence in identifying parking spots (less than 0.05)</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b="1" lang="en" sz="1500">
                <a:solidFill>
                  <a:schemeClr val="dk1"/>
                </a:solidFill>
                <a:latin typeface="DM Sans"/>
                <a:ea typeface="DM Sans"/>
                <a:cs typeface="DM Sans"/>
                <a:sym typeface="DM Sans"/>
              </a:rPr>
              <a:t>Make Parking More Robust</a:t>
            </a:r>
            <a:endParaRPr b="1"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Use the camera while parking to ensure that the parking is accurate and doesn’t get off track, like ensuring the car is parked fully into the parking spot (from using the blue line in front of it) and that the car doesn’t go over the parking lines</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
        <p:nvSpPr>
          <p:cNvPr id="558" name="Google Shape;558;p73"/>
          <p:cNvSpPr txBox="1"/>
          <p:nvPr>
            <p:ph idx="12" type="sldNum"/>
          </p:nvPr>
        </p:nvSpPr>
        <p:spPr>
          <a:xfrm>
            <a:off x="7860125"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74"/>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64" name="Google Shape;564;p74"/>
          <p:cNvSpPr txBox="1"/>
          <p:nvPr/>
        </p:nvSpPr>
        <p:spPr>
          <a:xfrm>
            <a:off x="129175" y="900150"/>
            <a:ext cx="8647500" cy="33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DM Sans"/>
                <a:ea typeface="DM Sans"/>
                <a:cs typeface="DM Sans"/>
                <a:sym typeface="DM Sans"/>
              </a:rPr>
              <a:t>Gantt Chart Update</a:t>
            </a:r>
            <a:endParaRPr b="1" sz="2500">
              <a:solidFill>
                <a:schemeClr val="dk1"/>
              </a:solidFill>
              <a:latin typeface="DM Sans"/>
              <a:ea typeface="DM Sans"/>
              <a:cs typeface="DM Sans"/>
              <a:sym typeface="DM Sans"/>
            </a:endParaRPr>
          </a:p>
        </p:txBody>
      </p:sp>
      <p:pic>
        <p:nvPicPr>
          <p:cNvPr id="565" name="Google Shape;565;p74"/>
          <p:cNvPicPr preferRelativeResize="0"/>
          <p:nvPr/>
        </p:nvPicPr>
        <p:blipFill rotWithShape="1">
          <a:blip r:embed="rId4">
            <a:alphaModFix/>
          </a:blip>
          <a:srcRect b="0" l="5428" r="0" t="0"/>
          <a:stretch/>
        </p:blipFill>
        <p:spPr>
          <a:xfrm>
            <a:off x="248250" y="1712150"/>
            <a:ext cx="8647500" cy="2019650"/>
          </a:xfrm>
          <a:prstGeom prst="rect">
            <a:avLst/>
          </a:prstGeom>
          <a:noFill/>
          <a:ln>
            <a:noFill/>
          </a:ln>
        </p:spPr>
      </p:pic>
      <p:sp>
        <p:nvSpPr>
          <p:cNvPr id="566" name="Google Shape;566;p74"/>
          <p:cNvSpPr txBox="1"/>
          <p:nvPr>
            <p:ph idx="12" type="sldNum"/>
          </p:nvPr>
        </p:nvSpPr>
        <p:spPr>
          <a:xfrm>
            <a:off x="7853000"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75"/>
          <p:cNvPicPr preferRelativeResize="0"/>
          <p:nvPr/>
        </p:nvPicPr>
        <p:blipFill>
          <a:blip r:embed="rId3">
            <a:alphaModFix/>
          </a:blip>
          <a:stretch>
            <a:fillRect/>
          </a:stretch>
        </p:blipFill>
        <p:spPr>
          <a:xfrm>
            <a:off x="285725" y="267950"/>
            <a:ext cx="2286026" cy="535250"/>
          </a:xfrm>
          <a:prstGeom prst="rect">
            <a:avLst/>
          </a:prstGeom>
          <a:noFill/>
          <a:ln>
            <a:noFill/>
          </a:ln>
        </p:spPr>
      </p:pic>
      <p:sp>
        <p:nvSpPr>
          <p:cNvPr id="572" name="Google Shape;572;p75"/>
          <p:cNvSpPr txBox="1"/>
          <p:nvPr/>
        </p:nvSpPr>
        <p:spPr>
          <a:xfrm>
            <a:off x="129175" y="803200"/>
            <a:ext cx="8647500" cy="41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DM Sans"/>
                <a:ea typeface="DM Sans"/>
                <a:cs typeface="DM Sans"/>
                <a:sym typeface="DM Sans"/>
              </a:rPr>
              <a:t>Lessons Learned</a:t>
            </a:r>
            <a:endParaRPr b="1" sz="2500">
              <a:solidFill>
                <a:schemeClr val="dk1"/>
              </a:solidFill>
              <a:latin typeface="DM Sans"/>
              <a:ea typeface="DM Sans"/>
              <a:cs typeface="DM Sans"/>
              <a:sym typeface="DM Sans"/>
            </a:endParaRPr>
          </a:p>
          <a:p>
            <a:pPr indent="0" lvl="0" marL="0" rtl="0" algn="l">
              <a:spcBef>
                <a:spcPts val="0"/>
              </a:spcBef>
              <a:spcAft>
                <a:spcPts val="0"/>
              </a:spcAft>
              <a:buNone/>
            </a:pPr>
            <a:r>
              <a:rPr lang="en" sz="1500">
                <a:solidFill>
                  <a:schemeClr val="dk1"/>
                </a:solidFill>
                <a:latin typeface="DM Sans"/>
                <a:ea typeface="DM Sans"/>
                <a:cs typeface="DM Sans"/>
                <a:sym typeface="DM Sans"/>
              </a:rPr>
              <a:t> </a:t>
            </a:r>
            <a:endParaRPr sz="15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For any image-based models, try and have consistent lighting or have multiple photos of differing lightings</a:t>
            </a:r>
            <a:endParaRPr sz="1200">
              <a:solidFill>
                <a:schemeClr val="dk1"/>
              </a:solidFill>
              <a:latin typeface="DM Sans"/>
              <a:ea typeface="DM Sans"/>
              <a:cs typeface="DM Sans"/>
              <a:sym typeface="DM Sans"/>
            </a:endParaRPr>
          </a:p>
          <a:p>
            <a:pPr indent="0" lvl="0" marL="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The amount of images needed for a YOLO model is much higher than you think</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For debugging, program an update output for the program to display for instant feedback</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Allot more time for each and every step as you will need at the least 1.5x the amount of time you think you need for project steps</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Charge the battery at the end of using it so that next time there isn’t a need to start with charging the battery</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Don’t leave the battery plugged in overnight (even the battery monitor), even when the robot is not powered on (We learned the hard way)</a:t>
            </a:r>
            <a:endParaRPr sz="1200">
              <a:solidFill>
                <a:schemeClr val="dk1"/>
              </a:solidFill>
              <a:latin typeface="DM Sans"/>
              <a:ea typeface="DM Sans"/>
              <a:cs typeface="DM Sans"/>
              <a:sym typeface="DM Sans"/>
            </a:endParaRPr>
          </a:p>
          <a:p>
            <a:pPr indent="0" lvl="0" marL="457200" rtl="0" algn="l">
              <a:spcBef>
                <a:spcPts val="0"/>
              </a:spcBef>
              <a:spcAft>
                <a:spcPts val="0"/>
              </a:spcAft>
              <a:buNone/>
            </a:pPr>
            <a:r>
              <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AutoNum type="arabicParenR"/>
            </a:pPr>
            <a:r>
              <a:rPr lang="en" sz="1200">
                <a:solidFill>
                  <a:schemeClr val="dk1"/>
                </a:solidFill>
                <a:latin typeface="DM Sans"/>
                <a:ea typeface="DM Sans"/>
                <a:cs typeface="DM Sans"/>
                <a:sym typeface="DM Sans"/>
              </a:rPr>
              <a:t>remember: </a:t>
            </a:r>
            <a:endParaRPr sz="1200">
              <a:solidFill>
                <a:schemeClr val="dk1"/>
              </a:solidFill>
              <a:latin typeface="DM Sans"/>
              <a:ea typeface="DM Sans"/>
              <a:cs typeface="DM Sans"/>
              <a:sym typeface="DM Sans"/>
            </a:endParaRPr>
          </a:p>
        </p:txBody>
      </p:sp>
      <p:sp>
        <p:nvSpPr>
          <p:cNvPr id="573" name="Google Shape;573;p75"/>
          <p:cNvSpPr txBox="1"/>
          <p:nvPr>
            <p:ph idx="12" type="sldNum"/>
          </p:nvPr>
        </p:nvSpPr>
        <p:spPr>
          <a:xfrm>
            <a:off x="7860125" y="0"/>
            <a:ext cx="1383600" cy="234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MAE ECE 148 SP 26, Team 8</a:t>
            </a:r>
            <a:endParaRPr/>
          </a:p>
        </p:txBody>
      </p:sp>
      <p:pic>
        <p:nvPicPr>
          <p:cNvPr id="574" name="Google Shape;574;p75"/>
          <p:cNvPicPr preferRelativeResize="0"/>
          <p:nvPr/>
        </p:nvPicPr>
        <p:blipFill>
          <a:blip r:embed="rId4">
            <a:alphaModFix/>
          </a:blip>
          <a:stretch>
            <a:fillRect/>
          </a:stretch>
        </p:blipFill>
        <p:spPr>
          <a:xfrm>
            <a:off x="1481000" y="3987485"/>
            <a:ext cx="6936374" cy="1127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74"/>
                                        </p:tgtEl>
                                        <p:attrNameLst>
                                          <p:attrName>style.visibility</p:attrName>
                                        </p:attrNameLst>
                                      </p:cBhvr>
                                      <p:to>
                                        <p:strVal val="visible"/>
                                      </p:to>
                                    </p:set>
                                    <p:anim calcmode="lin" valueType="num">
                                      <p:cBhvr additive="base">
                                        <p:cTn dur="1000"/>
                                        <p:tgtEl>
                                          <p:spTgt spid="57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